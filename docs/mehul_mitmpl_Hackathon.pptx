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6" r:id="rId2"/>
    <p:sldId id="257" r:id="rId3"/>
    <p:sldId id="258" r:id="rId4"/>
    <p:sldId id="267" r:id="rId5"/>
    <p:sldId id="268" r:id="rId6"/>
    <p:sldId id="256" r:id="rId7"/>
    <p:sldId id="26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4"/>
  </p:normalViewPr>
  <p:slideViewPr>
    <p:cSldViewPr snapToGrid="0" snapToObjects="1">
      <p:cViewPr>
        <p:scale>
          <a:sx n="154" d="100"/>
          <a:sy n="154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Shape 14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6" name="Shape 14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850B7-243E-B44C-91D9-EC504FD0DD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8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column: from news to portfolio actions. Right column: banking-portfolio risk and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about data realism and model reliability; next steps move toward validation on real data and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30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6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0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6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0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5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6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5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6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6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6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0" indent="3429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0" indent="6858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0" indent="10287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0" indent="13716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29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23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8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7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8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8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9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0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1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0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1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2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3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2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28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23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23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4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5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6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5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6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7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8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7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8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8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29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9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295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417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359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309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303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4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5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6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7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8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16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0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1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2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3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4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5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23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7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8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9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0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1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2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30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24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5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6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7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8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9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37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1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2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3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4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5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6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4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8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9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0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1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2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3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51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45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6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7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8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9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0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58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52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3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4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5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6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7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416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366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360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1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2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3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4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5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73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67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8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9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0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1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2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0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74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5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6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7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8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9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7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1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2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3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4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5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6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94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8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9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0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1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2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3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01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95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6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7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8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9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0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08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2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3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4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5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6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7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15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9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0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1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2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3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4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418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420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itle Text"/>
          <p:cNvSpPr txBox="1">
            <a:spLocks noGrp="1"/>
          </p:cNvSpPr>
          <p:nvPr>
            <p:ph type="title"/>
          </p:nvPr>
        </p:nvSpPr>
        <p:spPr>
          <a:xfrm>
            <a:off x="722435" y="3305176"/>
            <a:ext cx="7772401" cy="1021557"/>
          </a:xfrm>
          <a:prstGeom prst="rect">
            <a:avLst/>
          </a:prstGeom>
        </p:spPr>
        <p:txBody>
          <a:bodyPr lIns="44450" tIns="44450" rIns="44450" bIns="44450" anchor="t"/>
          <a:lstStyle>
            <a:lvl1pPr algn="l" defTabSz="914400">
              <a:lnSpc>
                <a:spcPct val="90000"/>
              </a:lnSpc>
              <a:defRPr sz="3000" b="1" cap="all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4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435" y="2180034"/>
            <a:ext cx="7772401" cy="1125141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544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486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436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30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1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2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3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4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5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43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37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8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9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0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1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2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50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44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5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6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7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8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9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57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1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2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3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4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5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6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64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8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9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0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1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2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3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71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65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6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7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8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9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0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78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2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3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4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5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6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7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85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9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0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1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2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3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4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543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493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487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8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9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0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1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2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00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94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5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6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7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8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9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07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1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2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3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4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5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6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14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8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9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0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1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2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3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1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15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6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7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8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9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0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8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2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3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4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5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6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7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35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9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0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1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2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3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4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42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36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7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8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9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0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1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545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547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5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90600" y="1485900"/>
            <a:ext cx="3511063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671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613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63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557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58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59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0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1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2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70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4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5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6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7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8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9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77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1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2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3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4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5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6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84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8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9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0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1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2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3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91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85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6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7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8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9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0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98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2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3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4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5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6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7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05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9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0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1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2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3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4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12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06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7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8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9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0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1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670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620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614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5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6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7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8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9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7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1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2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3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4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5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6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34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8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9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0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1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2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3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41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35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6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7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8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9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0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48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2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3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4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5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6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7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55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9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0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1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2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3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4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62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56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7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8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9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0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1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69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63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4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5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6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7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8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672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674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6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6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067" cy="479823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269" y="1151334"/>
            <a:ext cx="4041531" cy="479823"/>
          </a:xfrm>
          <a:prstGeom prst="rect">
            <a:avLst/>
          </a:prstGeom>
        </p:spPr>
        <p:txBody>
          <a:bodyPr lIns="44450" tIns="44450" rIns="44450" bIns="44450" anchor="b"/>
          <a:lstStyle/>
          <a:p>
            <a: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799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741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691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685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6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7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8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9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0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98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2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3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4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5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6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7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05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9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0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1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2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3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4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12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6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7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8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9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0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1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19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13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4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5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6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7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8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26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0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1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2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3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4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5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33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7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8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9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0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1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2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40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34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5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6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7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8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9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798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748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742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3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4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5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6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7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55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49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0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1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2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3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4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2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56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7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8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9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0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1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9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63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4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5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6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7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8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76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0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1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2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3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4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5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83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7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8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9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0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1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2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90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84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5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6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7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8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9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97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91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2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3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4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5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6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800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802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803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8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925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867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817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811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2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3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4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5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6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24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18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9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0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1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2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3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1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25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6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7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8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9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0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8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2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3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4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5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6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7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45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9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0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1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2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3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4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52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6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7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8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9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0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1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59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53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4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5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6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7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8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66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60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1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2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3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4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5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924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874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868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9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0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1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2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3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81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75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6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7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8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9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0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88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2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3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4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5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6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7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95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9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0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1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2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3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4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2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96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7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8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9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0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1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9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03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4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5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6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7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8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16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0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1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2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3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4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5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23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7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8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9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0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1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2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926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928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9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05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99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94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93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4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4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5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6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6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8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9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04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99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99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0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1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2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1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2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3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3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4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05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05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054" name="Title Text"/>
          <p:cNvSpPr txBox="1">
            <a:spLocks noGrp="1"/>
          </p:cNvSpPr>
          <p:nvPr>
            <p:ph type="title"/>
          </p:nvPr>
        </p:nvSpPr>
        <p:spPr>
          <a:xfrm>
            <a:off x="457200" y="204786"/>
            <a:ext cx="3008435" cy="871539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055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537" y="204788"/>
            <a:ext cx="5111263" cy="4389836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6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435" cy="3518297"/>
          </a:xfrm>
          <a:prstGeom prst="rect">
            <a:avLst/>
          </a:prstGeom>
        </p:spPr>
        <p:txBody>
          <a:bodyPr lIns="44450" tIns="44450" rIns="44450" bIns="44450"/>
          <a:lstStyle/>
          <a:p>
            <a: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0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178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120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070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064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5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6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7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8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9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77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1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2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3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4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5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6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84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8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9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0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1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2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3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91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85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6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7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8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9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0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98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2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3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4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5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6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7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05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9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0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1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2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3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4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12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06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7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8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9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0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1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19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13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4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5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6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7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8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177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7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121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2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3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4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5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6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34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28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9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0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1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2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3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41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5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6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7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8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9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0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48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2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3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4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5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6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7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55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9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0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1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2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3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4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62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56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7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8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9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0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1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69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63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4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5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6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7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8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76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70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1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2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3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4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5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179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181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82" name="Title Text"/>
          <p:cNvSpPr txBox="1">
            <a:spLocks noGrp="1"/>
          </p:cNvSpPr>
          <p:nvPr>
            <p:ph type="title"/>
          </p:nvPr>
        </p:nvSpPr>
        <p:spPr>
          <a:xfrm>
            <a:off x="1792165" y="3600450"/>
            <a:ext cx="5486401" cy="425054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1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165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165" y="4025503"/>
            <a:ext cx="5486401" cy="603648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306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248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198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192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3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4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5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6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7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05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99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0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1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2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3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4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12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06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7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8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9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0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1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19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13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4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5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6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7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8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26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0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1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2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3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4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5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33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7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8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9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0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1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2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40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34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5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6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7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8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9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47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41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2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3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4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5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6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305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255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249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0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1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2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3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4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2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56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7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8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9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0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1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9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63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4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5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6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7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8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76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0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1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2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3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4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5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83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7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8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9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0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1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2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90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84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5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6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7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8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9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97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1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2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3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4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5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6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04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8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9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0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1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2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3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307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309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310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311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43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37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32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31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2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3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4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5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6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5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6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7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43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38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37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8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8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9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0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1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0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1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2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3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2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3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43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43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437" name="Title Text"/>
          <p:cNvSpPr txBox="1">
            <a:spLocks noGrp="1"/>
          </p:cNvSpPr>
          <p:nvPr>
            <p:ph type="title"/>
          </p:nvPr>
        </p:nvSpPr>
        <p:spPr>
          <a:xfrm>
            <a:off x="6362700" y="457200"/>
            <a:ext cx="1790700" cy="411480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438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457200"/>
            <a:ext cx="5231424" cy="41148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240030"/>
            <a:ext cx="82981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7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3454"/>
            <a:ext cx="215763" cy="2192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5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4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IETF Hackathon - &lt;Project name&gt;"/>
          <p:cNvSpPr txBox="1"/>
          <p:nvPr/>
        </p:nvSpPr>
        <p:spPr>
          <a:xfrm>
            <a:off x="3045582" y="4731544"/>
            <a:ext cx="27636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535353"/>
                </a:solidFill>
              </a:defRPr>
            </a:lvl1pPr>
          </a:lstStyle>
          <a:p>
            <a:r>
              <a:t>IETF Hackathon - &lt;Project name&gt;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581" y="537843"/>
            <a:ext cx="7414953" cy="532014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S&amp;P Global &amp; Crisil Campus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893" y="1765280"/>
            <a:ext cx="6524190" cy="16129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bg2"/>
                </a:solidFill>
              </a:rPr>
              <a:t>Autonomous Financial News Intelligence Engine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CE5F20-9561-829B-AAC5-157FDA8CE211}"/>
              </a:ext>
            </a:extLst>
          </p:cNvPr>
          <p:cNvSpPr txBox="1">
            <a:spLocks/>
          </p:cNvSpPr>
          <p:nvPr/>
        </p:nvSpPr>
        <p:spPr>
          <a:xfrm>
            <a:off x="864524" y="3075996"/>
            <a:ext cx="2734888" cy="1063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b">
            <a:norm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en-US" sz="1800" dirty="0">
                <a:solidFill>
                  <a:schemeClr val="bg2"/>
                </a:solidFill>
              </a:rPr>
              <a:t>Name : Mehul Kaushik</a:t>
            </a:r>
          </a:p>
          <a:p>
            <a:pPr algn="l" hangingPunct="1"/>
            <a:r>
              <a:rPr lang="en-US" sz="1800" dirty="0">
                <a:solidFill>
                  <a:schemeClr val="bg2"/>
                </a:solidFill>
              </a:rPr>
              <a:t>College: MIT Manipal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B2656-C069-C7F9-5465-BE2C5031B8AB}"/>
              </a:ext>
            </a:extLst>
          </p:cNvPr>
          <p:cNvSpPr/>
          <p:nvPr/>
        </p:nvSpPr>
        <p:spPr>
          <a:xfrm>
            <a:off x="640080" y="4530436"/>
            <a:ext cx="955964" cy="1496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947952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1991B-D1AD-D493-37A0-7E116BAED1B1}"/>
              </a:ext>
            </a:extLst>
          </p:cNvPr>
          <p:cNvSpPr txBox="1"/>
          <p:nvPr/>
        </p:nvSpPr>
        <p:spPr>
          <a:xfrm>
            <a:off x="115196" y="210059"/>
            <a:ext cx="4114801" cy="37548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Business Problem:</a:t>
            </a:r>
            <a:r>
              <a:rPr lang="en-US" sz="1400" dirty="0"/>
              <a:t> Financial markets react to breaking news quickly, but traditional risk-management systems can be slow to identify important events and assess their potential impact on investments and bank portfolios. This can delay critical decisions and increase financial risk.</a:t>
            </a:r>
          </a:p>
          <a:p>
            <a:r>
              <a:rPr lang="en-US" sz="1400" b="1" dirty="0"/>
              <a:t>My Solution</a:t>
            </a:r>
          </a:p>
          <a:p>
            <a:r>
              <a:rPr lang="en-US" sz="1400" dirty="0"/>
              <a:t>I built a Python-based financial intelligence platform that ingests news from multiple sources using concurrent fetching, cleans and deduplicates the data, and uses </a:t>
            </a:r>
            <a:r>
              <a:rPr lang="en-US" sz="1400" dirty="0" err="1"/>
              <a:t>FinBERT</a:t>
            </a:r>
            <a:r>
              <a:rPr lang="en-US" sz="1400" dirty="0"/>
              <a:t> for sentiment analysis and </a:t>
            </a:r>
            <a:r>
              <a:rPr lang="en-US" sz="1400" dirty="0" err="1"/>
              <a:t>DeBERTa</a:t>
            </a:r>
            <a:r>
              <a:rPr lang="en-US" sz="1400" dirty="0"/>
              <a:t> for event classification. I combined these outputs with custom impact-scoring logic to prioritize important news, dynamically rebalance a 20-stock portfolio, and stress-test a synthetic $1 billion banking portfolio for potential losses and CET1 capital impact.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BBDBA-3773-6F45-67A3-88E01E448693}"/>
              </a:ext>
            </a:extLst>
          </p:cNvPr>
          <p:cNvSpPr/>
          <p:nvPr/>
        </p:nvSpPr>
        <p:spPr>
          <a:xfrm>
            <a:off x="3050770" y="4787893"/>
            <a:ext cx="2502131" cy="2509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79B99C-9E4D-8620-D21C-E244A8A96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248" y="3732669"/>
            <a:ext cx="5678856" cy="1306137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C19ED3D-C30B-D019-B458-65B974CACB6E}"/>
              </a:ext>
            </a:extLst>
          </p:cNvPr>
          <p:cNvSpPr txBox="1">
            <a:spLocks/>
          </p:cNvSpPr>
          <p:nvPr/>
        </p:nvSpPr>
        <p:spPr>
          <a:xfrm>
            <a:off x="5036607" y="842693"/>
            <a:ext cx="3466132" cy="267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What Problem is and How I Solved ?</a:t>
            </a:r>
          </a:p>
          <a:p>
            <a:pPr marL="0" indent="0" hangingPunct="1">
              <a:lnSpc>
                <a:spcPct val="90000"/>
              </a:lnSpc>
              <a:buNone/>
            </a:pPr>
            <a:endParaRPr lang="en-US" sz="4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CED06-DF7F-DF20-06A7-24CAA5FC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779" y="104694"/>
            <a:ext cx="2167789" cy="5022765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6DE6E93D-9960-D595-3D0D-32D1249E300C}"/>
              </a:ext>
            </a:extLst>
          </p:cNvPr>
          <p:cNvSpPr txBox="1">
            <a:spLocks/>
          </p:cNvSpPr>
          <p:nvPr/>
        </p:nvSpPr>
        <p:spPr>
          <a:xfrm>
            <a:off x="125939" y="104694"/>
            <a:ext cx="6562727" cy="75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Architecture and Data Flow</a:t>
            </a:r>
          </a:p>
          <a:p>
            <a:pPr marL="0" indent="0" hangingPunct="1">
              <a:lnSpc>
                <a:spcPct val="90000"/>
              </a:lnSpc>
              <a:buNone/>
            </a:pP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9516F-2598-3AF1-2246-ACFE4E6FEBE9}"/>
              </a:ext>
            </a:extLst>
          </p:cNvPr>
          <p:cNvSpPr txBox="1"/>
          <p:nvPr/>
        </p:nvSpPr>
        <p:spPr>
          <a:xfrm>
            <a:off x="125939" y="738639"/>
            <a:ext cx="4124644" cy="4293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50" dirty="0"/>
              <a:t>The system is a financial news intelligence platform that converts unstructured financial news into investment and risk-management decisions.</a:t>
            </a:r>
          </a:p>
          <a:p>
            <a:pPr lvl="0"/>
            <a:r>
              <a:rPr lang="en-US" sz="1050" b="1" dirty="0"/>
              <a:t>Data ingestion:</a:t>
            </a:r>
            <a:r>
              <a:rPr lang="en-US" sz="1050" dirty="0"/>
              <a:t> News is collected concurrently from RSS feeds, Reddit, and GDELT.</a:t>
            </a:r>
          </a:p>
          <a:p>
            <a:pPr lvl="0"/>
            <a:r>
              <a:rPr lang="en-US" sz="1050" b="1" dirty="0"/>
              <a:t>Preprocessing:</a:t>
            </a:r>
            <a:r>
              <a:rPr lang="en-US" sz="1050" dirty="0"/>
              <a:t> Articles are cleaned, deduplicated using SHA-1 identifiers, linked to company tickers, and stored in </a:t>
            </a:r>
            <a:r>
              <a:rPr lang="en-US" sz="1050" dirty="0" err="1"/>
              <a:t>DuckDB</a:t>
            </a:r>
            <a:r>
              <a:rPr lang="en-US" sz="1050" dirty="0"/>
              <a:t>.</a:t>
            </a:r>
          </a:p>
          <a:p>
            <a:pPr lvl="0"/>
            <a:r>
              <a:rPr lang="en-US" sz="1050" b="1" dirty="0"/>
              <a:t>NLP analysis:</a:t>
            </a:r>
            <a:endParaRPr lang="en-US" sz="1050" dirty="0"/>
          </a:p>
          <a:p>
            <a:pPr lvl="1"/>
            <a:r>
              <a:rPr lang="en-US" sz="1050" b="1" dirty="0" err="1"/>
              <a:t>FinBERT</a:t>
            </a:r>
            <a:r>
              <a:rPr lang="en-US" sz="1050" dirty="0"/>
              <a:t> calculates financial sentiment.</a:t>
            </a:r>
          </a:p>
          <a:p>
            <a:pPr lvl="1"/>
            <a:r>
              <a:rPr lang="en-US" sz="1050" b="1" dirty="0"/>
              <a:t>DeBERTa-v3</a:t>
            </a:r>
            <a:r>
              <a:rPr lang="en-US" sz="1050" dirty="0"/>
              <a:t> classifies the event type, such as earnings, credit, geopolitical, or macroeconomic.</a:t>
            </a:r>
          </a:p>
          <a:p>
            <a:pPr lvl="0"/>
            <a:r>
              <a:rPr lang="en-US" sz="1050" b="1" dirty="0"/>
              <a:t>Impact calculation:</a:t>
            </a:r>
            <a:r>
              <a:rPr lang="en-US" sz="1050" dirty="0"/>
              <a:t> The system combines event severity, financial magnitude, urgency, geographic scope, and model confidence to produce an impact score from 1 to 10.</a:t>
            </a:r>
          </a:p>
          <a:p>
            <a:pPr lvl="0"/>
            <a:r>
              <a:rPr lang="en-US" sz="1050" b="1" dirty="0"/>
              <a:t>Signal fusion:</a:t>
            </a:r>
            <a:r>
              <a:rPr lang="en-US" sz="1050" dirty="0"/>
              <a:t> Signals are adjusted using 24-hour time decay and source corroboration, producing a final ticker-level risk signal.</a:t>
            </a:r>
          </a:p>
          <a:p>
            <a:pPr lvl="0"/>
            <a:r>
              <a:rPr lang="en-US" sz="1050" b="1" dirty="0"/>
              <a:t>Decision engines:</a:t>
            </a:r>
            <a:endParaRPr lang="en-US" sz="1050" dirty="0"/>
          </a:p>
          <a:p>
            <a:pPr lvl="1"/>
            <a:r>
              <a:rPr lang="en-US" sz="1050" b="1" dirty="0"/>
              <a:t>Module A:</a:t>
            </a:r>
            <a:r>
              <a:rPr lang="en-US" sz="1050" dirty="0"/>
              <a:t> Uses the signal to hold, overweight, underweight, or remove stocks while maintaining a 100% portfolio allocation.</a:t>
            </a:r>
          </a:p>
          <a:p>
            <a:pPr lvl="1"/>
            <a:r>
              <a:rPr lang="en-US" sz="1050" b="1" dirty="0"/>
              <a:t>Module B:</a:t>
            </a:r>
            <a:r>
              <a:rPr lang="en-US" sz="1050" dirty="0"/>
              <a:t> High-impact events, generally scores of 7 or above, trigger stress tests on a synthetic $1 billion banking portfolio.</a:t>
            </a:r>
          </a:p>
          <a:p>
            <a:pPr lvl="0"/>
            <a:r>
              <a:rPr lang="en-US" sz="1050" b="1" dirty="0"/>
              <a:t>Risk outputs:</a:t>
            </a:r>
            <a:r>
              <a:rPr lang="en-US" sz="1050" dirty="0"/>
              <a:t> The stress engine calculates asset-level P&amp;L, total portfolio losses, and Basel III CET1 capital impact.</a:t>
            </a:r>
          </a:p>
          <a:p>
            <a:pPr lvl="0"/>
            <a:r>
              <a:rPr lang="en-US" sz="1050" b="1" dirty="0"/>
              <a:t>Presentation layer:</a:t>
            </a:r>
            <a:r>
              <a:rPr lang="en-US" sz="1050" dirty="0"/>
              <a:t> </a:t>
            </a:r>
            <a:r>
              <a:rPr lang="en-US" sz="1050" dirty="0" err="1"/>
              <a:t>FastAPI</a:t>
            </a:r>
            <a:r>
              <a:rPr lang="en-US" sz="1050" dirty="0"/>
              <a:t> exposes the results through REST endpoints and dashboards for news analysis, portfolio rebalancing, and stress testing.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20D94-2B64-421E-3807-1D3C1A427710}"/>
              </a:ext>
            </a:extLst>
          </p:cNvPr>
          <p:cNvSpPr/>
          <p:nvPr/>
        </p:nvSpPr>
        <p:spPr>
          <a:xfrm>
            <a:off x="2929320" y="4769565"/>
            <a:ext cx="2734880" cy="2692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67B5A3-D732-11C2-AD8A-DB315FE50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182" y="1670155"/>
            <a:ext cx="2734880" cy="24304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605FB95-26BA-EBAF-112D-C281D3562AF4}"/>
              </a:ext>
            </a:extLst>
          </p:cNvPr>
          <p:cNvSpPr txBox="1">
            <a:spLocks/>
          </p:cNvSpPr>
          <p:nvPr/>
        </p:nvSpPr>
        <p:spPr>
          <a:xfrm>
            <a:off x="125940" y="104694"/>
            <a:ext cx="6156328" cy="665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Implementation Highlights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DE6E7-412D-29BE-2594-9A65EE598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68" y="437580"/>
            <a:ext cx="2642231" cy="450003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070B69-92D7-166C-2043-6D3EC9724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117431"/>
              </p:ext>
            </p:extLst>
          </p:nvPr>
        </p:nvGraphicFramePr>
        <p:xfrm>
          <a:off x="125940" y="720090"/>
          <a:ext cx="6042104" cy="31927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3602">
                  <a:extLst>
                    <a:ext uri="{9D8B030D-6E8A-4147-A177-3AD203B41FA5}">
                      <a16:colId xmlns:a16="http://schemas.microsoft.com/office/drawing/2014/main" val="962497607"/>
                    </a:ext>
                  </a:extLst>
                </a:gridCol>
                <a:gridCol w="1903614">
                  <a:extLst>
                    <a:ext uri="{9D8B030D-6E8A-4147-A177-3AD203B41FA5}">
                      <a16:colId xmlns:a16="http://schemas.microsoft.com/office/drawing/2014/main" val="4069686141"/>
                    </a:ext>
                  </a:extLst>
                </a:gridCol>
                <a:gridCol w="2734888">
                  <a:extLst>
                    <a:ext uri="{9D8B030D-6E8A-4147-A177-3AD203B41FA5}">
                      <a16:colId xmlns:a16="http://schemas.microsoft.com/office/drawing/2014/main" val="133871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Runtime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Python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Strong ecosystem for NLP, data processing, and finance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2263090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API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FastAPI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Fast, typed, and easy to expose REST endpoints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201624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Storage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DuckDB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Embedded, lightweight, and optimized for analytical queries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27960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Sentiment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FinBERT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Specialized for financial language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181444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Event classification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DeBERTa-v3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Context-aware zero-shot event classification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78303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ML framework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PyTorch and Transformers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Standard tools for loading and running transformer models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1726231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Ingestion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ThreadPoolExecutor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Parallel fetching from multiple news sources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34566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Frontend charts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HTML5 Canvas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Lightweight visualization without a frontend build system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105486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Validation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Pytest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Automated regression and behavior testing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24878104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6C18B7FC-54EB-F3C5-6105-2C2BB8945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44" y="4032994"/>
            <a:ext cx="4256116" cy="99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0348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519A50-D6D1-3CB3-4587-801CEEE04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120" y="770467"/>
            <a:ext cx="3266902" cy="1501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7B6F75-4EA1-769D-A300-F074A82B5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92" y="770467"/>
            <a:ext cx="3370676" cy="156187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08B4F1B-E813-256D-E936-0791AFB3B78F}"/>
              </a:ext>
            </a:extLst>
          </p:cNvPr>
          <p:cNvSpPr txBox="1">
            <a:spLocks/>
          </p:cNvSpPr>
          <p:nvPr/>
        </p:nvSpPr>
        <p:spPr>
          <a:xfrm>
            <a:off x="125940" y="104694"/>
            <a:ext cx="6156328" cy="665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40C6B-E0DD-65A4-E270-17AABA156F5C}"/>
              </a:ext>
            </a:extLst>
          </p:cNvPr>
          <p:cNvSpPr txBox="1"/>
          <p:nvPr/>
        </p:nvSpPr>
        <p:spPr>
          <a:xfrm>
            <a:off x="125940" y="2318730"/>
            <a:ext cx="8808856" cy="29315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Outputs and Metrics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News output: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Clean, deduplicated articles with company tickers, sentiment, event type, confidence, and impact score.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Sentiment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+mj-lt"/>
              </a:rPr>
              <a:t>FinBERT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 score from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-1.0 to +1.0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Impact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Calibrated market impact score from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1.0 to 10.0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Signal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Ticker-level signal using sentiment, impact, 24-hour time decay, and source corroboration.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Rebalancer output: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HOLD, OVERWEIGHT, UNDERWEIGHT, REMOVE, and ADD decisions for a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20-stock index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Portfolio constraint: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Final stock weights are normalized to exactly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100%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Stress-test output: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Asset-level P&amp;L, total portfolio loss, and Basel III CET1 capital impact for a synthetic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$1 billion banking portfolio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Stress trigger: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Events with an impact score of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7.0 or higher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trigger stress testing.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Performance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Warm transformer inference is documented at approximately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18 </a:t>
            </a:r>
            <a:r>
              <a:rPr lang="en-US" sz="1050" b="1" i="0" dirty="0" err="1">
                <a:solidFill>
                  <a:srgbClr val="000000"/>
                </a:solidFill>
                <a:effectLst/>
                <a:latin typeface="+mj-lt"/>
              </a:rPr>
              <a:t>ms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after model loading.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Validation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65 out of 65 automated tests passed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Data metric: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 Supports </a:t>
            </a:r>
            <a:r>
              <a:rPr lang="en-US" sz="1050" b="1" i="0" dirty="0">
                <a:solidFill>
                  <a:srgbClr val="000000"/>
                </a:solidFill>
                <a:effectLst/>
                <a:latin typeface="+mj-lt"/>
              </a:rPr>
              <a:t>10+ news feeds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+mj-lt"/>
              </a:rPr>
              <a:t>, Reddit sources, GDELT events, and a 20-stock universe with 10 reserve stocks.</a:t>
            </a:r>
            <a:endParaRPr lang="en-US" sz="500" b="0" i="0" dirty="0">
              <a:solidFill>
                <a:srgbClr val="BFBFB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602422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n0"/>
          <p:cNvSpPr/>
          <p:nvPr/>
        </p:nvSpPr>
        <p:spPr>
          <a:xfrm>
            <a:off x="582930" y="1426464"/>
            <a:ext cx="370332" cy="3703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 txBox="1"/>
          <p:nvPr/>
        </p:nvSpPr>
        <p:spPr>
          <a:xfrm>
            <a:off x="582930" y="142646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3444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Converts large volumes of financial news into structured, actionable signals.</a:t>
            </a:r>
            <a:endParaRPr lang="en-US" sz="1125" dirty="0"/>
          </a:p>
        </p:txBody>
      </p:sp>
      <p:sp>
        <p:nvSpPr>
          <p:cNvPr id="9" name="dn1"/>
          <p:cNvSpPr/>
          <p:nvPr/>
        </p:nvSpPr>
        <p:spPr>
          <a:xfrm>
            <a:off x="4821174" y="1426464"/>
            <a:ext cx="370332" cy="3703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8"/>
          <p:cNvSpPr txBox="1"/>
          <p:nvPr/>
        </p:nvSpPr>
        <p:spPr>
          <a:xfrm>
            <a:off x="4821174" y="142646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35524" y="123444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Helps portfolio managers identify market-moving events faster.</a:t>
            </a:r>
            <a:endParaRPr lang="en-US" sz="1125" dirty="0"/>
          </a:p>
        </p:txBody>
      </p:sp>
      <p:sp>
        <p:nvSpPr>
          <p:cNvPr id="13" name="dn2"/>
          <p:cNvSpPr/>
          <p:nvPr/>
        </p:nvSpPr>
        <p:spPr>
          <a:xfrm>
            <a:off x="582930" y="2283714"/>
            <a:ext cx="370332" cy="3703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582930" y="228371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09169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Connects NLP sentiment and event classification directly to portfolio actions.</a:t>
            </a:r>
            <a:endParaRPr lang="en-US" sz="1125" dirty="0"/>
          </a:p>
        </p:txBody>
      </p:sp>
      <p:sp>
        <p:nvSpPr>
          <p:cNvPr id="17" name="dn3"/>
          <p:cNvSpPr/>
          <p:nvPr/>
        </p:nvSpPr>
        <p:spPr>
          <a:xfrm>
            <a:off x="4821174" y="2283714"/>
            <a:ext cx="370332" cy="3703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/>
          <p:cNvSpPr txBox="1"/>
          <p:nvPr/>
        </p:nvSpPr>
        <p:spPr>
          <a:xfrm>
            <a:off x="4821174" y="228371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5524" y="209169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Supports dynamic stock-index rebalancing while maintaining 100% allocation.</a:t>
            </a:r>
            <a:endParaRPr lang="en-US" sz="1125" dirty="0"/>
          </a:p>
        </p:txBody>
      </p:sp>
      <p:sp>
        <p:nvSpPr>
          <p:cNvPr id="21" name="dn4"/>
          <p:cNvSpPr/>
          <p:nvPr/>
        </p:nvSpPr>
        <p:spPr>
          <a:xfrm>
            <a:off x="582930" y="3140964"/>
            <a:ext cx="370332" cy="3703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20"/>
          <p:cNvSpPr txBox="1"/>
          <p:nvPr/>
        </p:nvSpPr>
        <p:spPr>
          <a:xfrm>
            <a:off x="582930" y="314096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294894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Estimates the effect of geopolitical, credit, interest-rate, and macroeconomic events on a banking portfolio.</a:t>
            </a:r>
            <a:endParaRPr lang="en-US" sz="1125" dirty="0"/>
          </a:p>
        </p:txBody>
      </p:sp>
      <p:sp>
        <p:nvSpPr>
          <p:cNvPr id="25" name="dn5"/>
          <p:cNvSpPr/>
          <p:nvPr/>
        </p:nvSpPr>
        <p:spPr>
          <a:xfrm>
            <a:off x="4821174" y="3140964"/>
            <a:ext cx="370332" cy="3703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24"/>
          <p:cNvSpPr txBox="1"/>
          <p:nvPr/>
        </p:nvSpPr>
        <p:spPr>
          <a:xfrm>
            <a:off x="4821174" y="314096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35524" y="294894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Provides asset-level P&amp;L and Basel III CET1 impact for easier risk assessment.</a:t>
            </a:r>
            <a:endParaRPr lang="en-US" sz="1125" dirty="0"/>
          </a:p>
        </p:txBody>
      </p:sp>
      <p:sp>
        <p:nvSpPr>
          <p:cNvPr id="29" name="dn6"/>
          <p:cNvSpPr/>
          <p:nvPr/>
        </p:nvSpPr>
        <p:spPr>
          <a:xfrm>
            <a:off x="582930" y="3998214"/>
            <a:ext cx="370332" cy="3703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28"/>
          <p:cNvSpPr txBox="1"/>
          <p:nvPr/>
        </p:nvSpPr>
        <p:spPr>
          <a:xfrm>
            <a:off x="582930" y="399821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80619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Improves transparency through explainable impact scores and decision rules.</a:t>
            </a:r>
            <a:endParaRPr lang="en-US" sz="1125" dirty="0"/>
          </a:p>
        </p:txBody>
      </p:sp>
      <p:sp>
        <p:nvSpPr>
          <p:cNvPr id="33" name="dn7"/>
          <p:cNvSpPr/>
          <p:nvPr/>
        </p:nvSpPr>
        <p:spPr>
          <a:xfrm>
            <a:off x="4821174" y="3998214"/>
            <a:ext cx="370332" cy="3703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32"/>
          <p:cNvSpPr txBox="1"/>
          <p:nvPr/>
        </p:nvSpPr>
        <p:spPr>
          <a:xfrm>
            <a:off x="4821174" y="3998214"/>
            <a:ext cx="3703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35524" y="380619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chemeClr val="tx1"/>
                </a:solidFill>
              </a:rPr>
              <a:t>Can support financial institutions, investment firms, risk teams, and analysts.</a:t>
            </a:r>
            <a:endParaRPr lang="en-US" sz="1125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3454"/>
            <a:ext cx="145231" cy="2192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5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5AC3A3-1B56-646D-415F-65270ECA92AE}"/>
              </a:ext>
            </a:extLst>
          </p:cNvPr>
          <p:cNvSpPr/>
          <p:nvPr/>
        </p:nvSpPr>
        <p:spPr>
          <a:xfrm>
            <a:off x="3092333" y="4763470"/>
            <a:ext cx="2427317" cy="2592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3B1DBE87-1F89-BED9-E7CB-831F37DA5FCE}"/>
              </a:ext>
            </a:extLst>
          </p:cNvPr>
          <p:cNvSpPr txBox="1">
            <a:spLocks/>
          </p:cNvSpPr>
          <p:nvPr/>
        </p:nvSpPr>
        <p:spPr>
          <a:xfrm>
            <a:off x="582930" y="376370"/>
            <a:ext cx="6156328" cy="665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Domain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0"/>
          <p:cNvSpPr/>
          <p:nvPr/>
        </p:nvSpPr>
        <p:spPr>
          <a:xfrm>
            <a:off x="617220" y="1152144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994410" y="1097280"/>
            <a:ext cx="32918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chemeClr val="tx2"/>
                </a:solidFill>
              </a:rPr>
              <a:t>Current Limitations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17220" y="1645920"/>
            <a:ext cx="366903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Stress testing uses a synthetic $1 billion portfolio, not real bank holdings.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News quality depends on the reliability, availability, and coverage of external feeds.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Transformer models may produce incorrect results for ambiguous or misleading headlines.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Impact scores are calibrated rules, not guaranteed predictions of market movement.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system does not execute real trades or provide investment advice.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Real-world markets include liquidity, transaction costs, and behavioral factors that are simplified.</a:t>
            </a:r>
            <a:endParaRPr lang="en-US" sz="1050" dirty="0"/>
          </a:p>
        </p:txBody>
      </p:sp>
      <p:sp>
        <p:nvSpPr>
          <p:cNvPr id="8" name="cd1"/>
          <p:cNvSpPr/>
          <p:nvPr/>
        </p:nvSpPr>
        <p:spPr>
          <a:xfrm>
            <a:off x="4855464" y="115214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232654" y="1097280"/>
            <a:ext cx="32918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chemeClr val="tx2"/>
                </a:solidFill>
              </a:rPr>
              <a:t>Next Steps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855464" y="1645920"/>
            <a:ext cx="366903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Validate signals against larger historical financial-news datasets.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Add real-time market prices, volatility, spreads, and trading volumes.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Improve event classification using labeled domain-specific data.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Expand coverage to international markets, currencies, and commodities.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Add portfolio optimization based on risk-adjusted returns and transaction costs.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Integrate probabilistic forecasting and scenario comparison.</a:t>
            </a:r>
            <a:endParaRPr lang="en-US" sz="105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Deploy with monitoring, model drift detection, access control, and audit logging.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3454"/>
            <a:ext cx="145231" cy="2192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5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CCFB5C-F4A2-3098-7F90-E170AA5CD8D0}"/>
              </a:ext>
            </a:extLst>
          </p:cNvPr>
          <p:cNvSpPr txBox="1">
            <a:spLocks/>
          </p:cNvSpPr>
          <p:nvPr/>
        </p:nvSpPr>
        <p:spPr>
          <a:xfrm>
            <a:off x="414675" y="266915"/>
            <a:ext cx="6156328" cy="665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2"/>
                </a:solidFill>
              </a:rPr>
              <a:t>Limitations and Next 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1AE367-BF91-720A-1997-0C5580F482D0}"/>
              </a:ext>
            </a:extLst>
          </p:cNvPr>
          <p:cNvSpPr/>
          <p:nvPr/>
        </p:nvSpPr>
        <p:spPr>
          <a:xfrm>
            <a:off x="3092333" y="4763470"/>
            <a:ext cx="2427317" cy="2592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979</Words>
  <Application>Microsoft Macintosh PowerPoint</Application>
  <PresentationFormat>On-screen Show (16:9)</PresentationFormat>
  <Paragraphs>105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Times New Roman</vt:lpstr>
      <vt:lpstr>Office Theme</vt:lpstr>
      <vt:lpstr>S&amp;P Global &amp; Crisil Campus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Hackathon: &lt;Project Name&gt;</dc:title>
  <cp:lastModifiedBy>MEHUL KAUSHIK - 123130765 - MITMPL</cp:lastModifiedBy>
  <cp:revision>12</cp:revision>
  <dcterms:modified xsi:type="dcterms:W3CDTF">2026-10-18T12:24:19Z</dcterms:modified>
</cp:coreProperties>
</file>